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62" r:id="rId10"/>
    <p:sldId id="271" r:id="rId11"/>
    <p:sldId id="263" r:id="rId12"/>
    <p:sldId id="264" r:id="rId13"/>
    <p:sldId id="265" r:id="rId14"/>
    <p:sldId id="266" r:id="rId15"/>
    <p:sldId id="267" r:id="rId16"/>
    <p:sldId id="268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8" d="100"/>
          <a:sy n="68" d="100"/>
        </p:scale>
        <p:origin x="59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9418320" cy="365760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463040"/>
            <a:ext cx="164592" cy="3657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37360" y="1645920"/>
            <a:ext cx="8686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6800" b="1" i="0" dirty="0">
                <a:solidFill>
                  <a:srgbClr val="FFFFFF"/>
                </a:solidFill>
                <a:latin typeface="Calibri"/>
              </a:rPr>
              <a:t>NEXTGEN</a:t>
            </a:r>
            <a:r>
              <a:rPr lang="en-US" sz="7200" dirty="0">
                <a:solidFill>
                  <a:srgbClr val="FFFFFF"/>
                </a:solidFill>
                <a:latin typeface="Calibri"/>
              </a:rPr>
              <a:t>-</a:t>
            </a:r>
            <a:r>
              <a:rPr sz="6800" b="1" i="0" dirty="0">
                <a:solidFill>
                  <a:srgbClr val="FFFFFF"/>
                </a:solidFill>
                <a:latin typeface="Calibri"/>
              </a:rPr>
              <a:t>ISP</a:t>
            </a:r>
            <a:r>
              <a:rPr lang="en-US" sz="6800" b="1" i="0" dirty="0">
                <a:solidFill>
                  <a:srgbClr val="FFFFFF"/>
                </a:solidFill>
                <a:latin typeface="Calibri"/>
              </a:rPr>
              <a:t> </a:t>
            </a:r>
            <a:endParaRPr sz="6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37360" y="30175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6B6D4"/>
                </a:solidFill>
                <a:latin typeface="Calibri"/>
              </a:rPr>
              <a:t>An Integrated ERP &amp; CRM Platform for Internet Service Providers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703320"/>
            <a:ext cx="8686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94A3B8"/>
                </a:solidFill>
                <a:latin typeface="Calibri"/>
              </a:rPr>
              <a:t>BY</a:t>
            </a:r>
            <a:br>
              <a:rPr lang="en-US" sz="1400" b="0" i="0" dirty="0">
                <a:solidFill>
                  <a:srgbClr val="94A3B8"/>
                </a:solidFill>
                <a:latin typeface="Calibri"/>
              </a:rPr>
            </a:br>
            <a:r>
              <a:rPr lang="en-US" sz="1400" b="0" i="0" dirty="0">
                <a:solidFill>
                  <a:srgbClr val="94A3B8"/>
                </a:solidFill>
                <a:latin typeface="Calibri"/>
              </a:rPr>
              <a:t>P S SAHAD </a:t>
            </a:r>
            <a:endParaRPr sz="14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4320" y="651052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NextGenISP  |  ISP Management Platform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10528"/>
            <a:ext cx="11914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NextGenISP  |  ISP Management Platform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1914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4592"/>
            <a:ext cx="8229600" cy="6583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82880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932688"/>
            <a:ext cx="11457432" cy="512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400" b="1" dirty="0">
                <a:solidFill>
                  <a:srgbClr val="06B6D4"/>
                </a:solidFill>
                <a:latin typeface="Calibri"/>
              </a:rPr>
              <a:t>What is </a:t>
            </a:r>
            <a:r>
              <a:rPr sz="2400" b="1" dirty="0" err="1">
                <a:solidFill>
                  <a:srgbClr val="06B6D4"/>
                </a:solidFill>
                <a:latin typeface="Calibri"/>
              </a:rPr>
              <a:t>NextGenISP</a:t>
            </a:r>
            <a:r>
              <a:rPr sz="2400" b="1" dirty="0">
                <a:solidFill>
                  <a:srgbClr val="06B6D4"/>
                </a:solidFill>
                <a:latin typeface="Calibri"/>
              </a:rPr>
              <a:t>?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dirty="0">
                <a:solidFill>
                  <a:srgbClr val="FFFFFF"/>
                </a:solidFill>
                <a:latin typeface="Calibri"/>
              </a:rPr>
              <a:t>• </a:t>
            </a:r>
            <a:r>
              <a:rPr sz="1700" dirty="0" err="1">
                <a:solidFill>
                  <a:srgbClr val="FFFFFF"/>
                </a:solidFill>
                <a:latin typeface="Calibri"/>
              </a:rPr>
              <a:t>NextGenISP</a:t>
            </a:r>
            <a:r>
              <a:rPr sz="1700" dirty="0">
                <a:solidFill>
                  <a:srgbClr val="FFFFFF"/>
                </a:solidFill>
                <a:latin typeface="Calibri"/>
              </a:rPr>
              <a:t> is a full-stack ISP Management Information System  built to digitize and automate all operations of an Internet Service Provider.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dirty="0">
                <a:solidFill>
                  <a:srgbClr val="F59E0B"/>
                </a:solidFill>
                <a:latin typeface="Calibri"/>
              </a:rPr>
              <a:t>ERP — Enterprise Resource Planning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dirty="0">
                <a:solidFill>
                  <a:srgbClr val="FFFFFF"/>
                </a:solidFill>
                <a:latin typeface="Calibri"/>
              </a:rPr>
              <a:t>• Automates all internal business processes into a single platform.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dirty="0">
                <a:solidFill>
                  <a:srgbClr val="FFFFFF"/>
                </a:solidFill>
                <a:latin typeface="Calibri"/>
              </a:rPr>
              <a:t>•   → Resource </a:t>
            </a:r>
            <a:r>
              <a:rPr sz="1700" dirty="0" err="1">
                <a:solidFill>
                  <a:srgbClr val="FFFFFF"/>
                </a:solidFill>
                <a:latin typeface="Calibri"/>
              </a:rPr>
              <a:t>Mgmt</a:t>
            </a:r>
            <a:r>
              <a:rPr sz="1700" dirty="0">
                <a:solidFill>
                  <a:srgbClr val="FFFFFF"/>
                </a:solidFill>
                <a:latin typeface="Calibri"/>
              </a:rPr>
              <a:t>: Hardware inventory, MAC address binding, device tracking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dirty="0">
                <a:solidFill>
                  <a:srgbClr val="FFFFFF"/>
                </a:solidFill>
                <a:latin typeface="Calibri"/>
              </a:rPr>
              <a:t>•   → Workforce Planning: Dual-role staff (Field + Technical) with Workload Monitor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dirty="0">
                <a:solidFill>
                  <a:srgbClr val="FFFFFF"/>
                </a:solidFill>
                <a:latin typeface="Calibri"/>
              </a:rPr>
              <a:t>•   → Financial Ops: Invoice generation, billing cycles, payment gateway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dirty="0">
                <a:solidFill>
                  <a:srgbClr val="FFFFFF"/>
                </a:solidFill>
                <a:latin typeface="Calibri"/>
              </a:rPr>
              <a:t>•   → Infrastructure: </a:t>
            </a:r>
            <a:r>
              <a:rPr sz="1700" dirty="0" err="1">
                <a:solidFill>
                  <a:srgbClr val="FFFFFF"/>
                </a:solidFill>
                <a:latin typeface="Calibri"/>
              </a:rPr>
              <a:t>GeoJSON</a:t>
            </a:r>
            <a:r>
              <a:rPr sz="1700" dirty="0">
                <a:solidFill>
                  <a:srgbClr val="FFFFFF"/>
                </a:solidFill>
                <a:latin typeface="Calibri"/>
              </a:rPr>
              <a:t> zone management, NOC live map, outage control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dirty="0">
                <a:solidFill>
                  <a:srgbClr val="F59E0B"/>
                </a:solidFill>
                <a:latin typeface="Calibri"/>
              </a:rPr>
              <a:t>CRM — Customer Relationship Management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dirty="0">
                <a:solidFill>
                  <a:srgbClr val="FFFFFF"/>
                </a:solidFill>
                <a:latin typeface="Calibri"/>
              </a:rPr>
              <a:t>• Manages the complete subscriber lifecycle from lead to loyal customer.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dirty="0">
                <a:solidFill>
                  <a:srgbClr val="FFFFFF"/>
                </a:solidFill>
                <a:latin typeface="Calibri"/>
              </a:rPr>
              <a:t>•   → Lead Management: LEAD → VERIFIED → ACTIVE onboarding pipeline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dirty="0">
                <a:solidFill>
                  <a:srgbClr val="FFFFFF"/>
                </a:solidFill>
                <a:latin typeface="Calibri"/>
              </a:rPr>
              <a:t>•   → Self-Service Portal: Speed test, diagnostics, bills, AI chatbot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dirty="0">
                <a:solidFill>
                  <a:srgbClr val="FFFFFF"/>
                </a:solidFill>
                <a:latin typeface="Calibri"/>
              </a:rPr>
              <a:t>•   → Support &amp; Ticketing: Physical &amp; Logical issue routing to right staff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dirty="0">
                <a:solidFill>
                  <a:srgbClr val="FFFFFF"/>
                </a:solidFill>
                <a:latin typeface="Calibri"/>
              </a:rPr>
              <a:t>•   → Broadcast Engine: Zone-targeted email campaigns for outage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NextGenISP  |  ISP Management Platform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1914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4592"/>
            <a:ext cx="8229600" cy="6583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82880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Abstract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899507"/>
            <a:ext cx="11457432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900" dirty="0">
                <a:solidFill>
                  <a:srgbClr val="FFFFFF"/>
                </a:solidFill>
                <a:latin typeface="Calibri"/>
              </a:rPr>
              <a:t>• Traditional ISPs manage operations through spreadsheets, WhatsApp, and manual processes — creating data silos, billing errors, and poor customer experience.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endParaRPr sz="190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900" b="1" dirty="0" err="1">
                <a:solidFill>
                  <a:srgbClr val="06B6D4"/>
                </a:solidFill>
                <a:latin typeface="Calibri"/>
              </a:rPr>
              <a:t>NextGenISP</a:t>
            </a:r>
            <a:r>
              <a:rPr sz="1900" b="1" dirty="0">
                <a:solidFill>
                  <a:srgbClr val="06B6D4"/>
                </a:solidFill>
                <a:latin typeface="Calibri"/>
              </a:rPr>
              <a:t> solves this by providing: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900" dirty="0">
                <a:solidFill>
                  <a:srgbClr val="FFFFFF"/>
                </a:solidFill>
                <a:latin typeface="Calibri"/>
              </a:rPr>
              <a:t>•   ✦  Public Portal — Self-service plan selection &amp; new connection registration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900" dirty="0">
                <a:solidFill>
                  <a:srgbClr val="FFFFFF"/>
                </a:solidFill>
                <a:latin typeface="Calibri"/>
              </a:rPr>
              <a:t>•   ✦  Admin Command Center — Full business management in one dashboard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900" dirty="0">
                <a:solidFill>
                  <a:srgbClr val="FFFFFF"/>
                </a:solidFill>
                <a:latin typeface="Calibri"/>
              </a:rPr>
              <a:t>•   ✦  Dual-Staff Dashboards — Physical install (Field) + Logical config (Technical)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900" dirty="0">
                <a:solidFill>
                  <a:srgbClr val="FFFFFF"/>
                </a:solidFill>
                <a:latin typeface="Calibri"/>
              </a:rPr>
              <a:t>•   ✦  Customer Self-Service — Speed gauge, diagnostic terminal, billing, AI chatbot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900" dirty="0">
                <a:solidFill>
                  <a:srgbClr val="FFFFFF"/>
                </a:solidFill>
                <a:latin typeface="Calibri"/>
              </a:rPr>
              <a:t>•   ✦  Live NOC War Room — </a:t>
            </a:r>
            <a:r>
              <a:rPr sz="1900" dirty="0" err="1">
                <a:solidFill>
                  <a:srgbClr val="FFFFFF"/>
                </a:solidFill>
                <a:latin typeface="Calibri"/>
              </a:rPr>
              <a:t>GeoJSON</a:t>
            </a:r>
            <a:r>
              <a:rPr sz="1900" dirty="0">
                <a:solidFill>
                  <a:srgbClr val="FFFFFF"/>
                </a:solidFill>
                <a:latin typeface="Calibri"/>
              </a:rPr>
              <a:t> zone map with real-time customer pins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900" dirty="0">
                <a:solidFill>
                  <a:srgbClr val="FFFFFF"/>
                </a:solidFill>
                <a:latin typeface="Calibri"/>
              </a:rPr>
              <a:t>•   ✦  Targeted Broadcasts — Zone/role-based email alerts with customer name preview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900" b="1" dirty="0">
                <a:solidFill>
                  <a:srgbClr val="F59E0B"/>
                </a:solidFill>
                <a:latin typeface="Calibri"/>
              </a:rPr>
              <a:t>Key Innovations: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900" dirty="0">
                <a:solidFill>
                  <a:srgbClr val="FFFFFF"/>
                </a:solidFill>
                <a:latin typeface="Calibri"/>
              </a:rPr>
              <a:t>•   →  Animated SVG Speedometer simulating plan-based real speeds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900" dirty="0">
                <a:solidFill>
                  <a:srgbClr val="FFFFFF"/>
                </a:solidFill>
                <a:latin typeface="Calibri"/>
              </a:rPr>
              <a:t>•   →  Hacker-style Diagnostic Terminal with auto ticket raising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900" dirty="0">
                <a:solidFill>
                  <a:srgbClr val="FFFFFF"/>
                </a:solidFill>
                <a:latin typeface="Calibri"/>
              </a:rPr>
              <a:t>•   →  UPI QR payment gateway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900" dirty="0">
                <a:solidFill>
                  <a:srgbClr val="FFFFFF"/>
                </a:solidFill>
                <a:latin typeface="Calibri"/>
              </a:rPr>
              <a:t>•   →  Chatbot using JavaScript decision-tree for instant FAQ resolution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NextGenISP  |  ISP Management Platform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1914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4592"/>
            <a:ext cx="8229600" cy="6583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82880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71600"/>
            <a:ext cx="566928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0" y="1371600"/>
            <a:ext cx="5852160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1389888"/>
            <a:ext cx="115031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389888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Impact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719072"/>
            <a:ext cx="5669280" cy="45720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35040" y="1719072"/>
            <a:ext cx="5852160" cy="45720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176479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99"/>
                </a:solidFill>
                <a:latin typeface="Calibri"/>
              </a:rPr>
              <a:t>✗  Customer data in Excel / WhatsApp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764792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No traceability, data loss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194560"/>
            <a:ext cx="566928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35040" y="2194560"/>
            <a:ext cx="58521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224028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99"/>
                </a:solidFill>
                <a:latin typeface="Calibri"/>
              </a:rPr>
              <a:t>✗  No formal ticket/complaint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24028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94A3B8"/>
                </a:solidFill>
                <a:latin typeface="Calibri"/>
              </a:rPr>
              <a:t>Complaints ignored or delayed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670048"/>
            <a:ext cx="5669280" cy="45720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35040" y="2670048"/>
            <a:ext cx="5852160" cy="45720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2715768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99"/>
                </a:solidFill>
                <a:latin typeface="Calibri"/>
              </a:rPr>
              <a:t>✗  Field staff managed via phone calls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715768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No tracking, wasted site visits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145536"/>
            <a:ext cx="566928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35040" y="3145536"/>
            <a:ext cx="58521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3191256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99"/>
                </a:solidFill>
                <a:latin typeface="Calibri"/>
              </a:rPr>
              <a:t>✗  Manual invoice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191256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Billing errors, late payments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621024"/>
            <a:ext cx="5669280" cy="45720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35040" y="3621024"/>
            <a:ext cx="5852160" cy="45720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3666744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99"/>
                </a:solidFill>
                <a:latin typeface="Calibri"/>
              </a:rPr>
              <a:t>✗  No geographic network visibility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666744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Cannot identify area-wise outages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096512"/>
            <a:ext cx="566928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035040" y="4096512"/>
            <a:ext cx="58521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" y="414223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99"/>
                </a:solidFill>
                <a:latin typeface="Calibri"/>
              </a:rPr>
              <a:t>✗  Hardware not tracked post-delivery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142232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No MAC binding, security risk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572000"/>
            <a:ext cx="5669280" cy="45720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035040" y="4572000"/>
            <a:ext cx="5852160" cy="45720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" y="461772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99"/>
                </a:solidFill>
                <a:latin typeface="Calibri"/>
              </a:rPr>
              <a:t>✗  Customers call for basic queries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461772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High support load, slow response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047488"/>
            <a:ext cx="566928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035040" y="5047488"/>
            <a:ext cx="58521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1480" y="5093208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999"/>
                </a:solidFill>
                <a:latin typeface="Calibri"/>
              </a:rPr>
              <a:t>✗  No centralized broadcast capability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093208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Cannot alert customers during outages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669280"/>
            <a:ext cx="1156716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" y="571500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There is a need for a unified digital system managing all ISP operations — from customer onboarding to network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NextGenISP  |  ISP Management Platform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1914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4592"/>
            <a:ext cx="8229600" cy="6583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82880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Existing System  vs  Proposed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3657600" cy="347472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34416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325880"/>
            <a:ext cx="3977639" cy="347472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33088" y="1344168"/>
            <a:ext cx="3977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Existing (Manual)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3977639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1344168"/>
            <a:ext cx="3977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Proposed (NextGenISP)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673352"/>
            <a:ext cx="3657600" cy="420624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069080" y="1673352"/>
            <a:ext cx="3977639" cy="420624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673352"/>
            <a:ext cx="3977639" cy="420624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1719072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Customer Registration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088" y="1719072"/>
            <a:ext cx="38861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8080"/>
                </a:solidFill>
                <a:latin typeface="Calibri"/>
              </a:rPr>
              <a:t>Paper forms / walk-in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1719072"/>
            <a:ext cx="38861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EFFB0"/>
                </a:solidFill>
                <a:latin typeface="Calibri"/>
              </a:rPr>
              <a:t>Online portal + ID proof upload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112264"/>
            <a:ext cx="3657600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069080" y="2112264"/>
            <a:ext cx="3977639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38160" y="2112264"/>
            <a:ext cx="3977639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" y="2157984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Plan Selection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3088" y="2157984"/>
            <a:ext cx="38861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8080"/>
                </a:solidFill>
                <a:latin typeface="Calibri"/>
              </a:rPr>
              <a:t>Phone call with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8" y="2157984"/>
            <a:ext cx="38861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EFFB0"/>
                </a:solidFill>
                <a:latin typeface="Calibri"/>
              </a:rPr>
              <a:t>Self-service catalog with filters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551176"/>
            <a:ext cx="3657600" cy="420624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069080" y="2551176"/>
            <a:ext cx="3977639" cy="420624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38160" y="2551176"/>
            <a:ext cx="3977639" cy="420624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" y="2596896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Installation Tracking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3088" y="2596896"/>
            <a:ext cx="38861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8080"/>
                </a:solidFill>
                <a:latin typeface="Calibri"/>
              </a:rPr>
              <a:t>WhatsApp messages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2596896"/>
            <a:ext cx="38861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EFFB0"/>
                </a:solidFill>
                <a:latin typeface="Calibri"/>
              </a:rPr>
              <a:t>Two-phase digital task 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990088"/>
            <a:ext cx="3657600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069080" y="2990088"/>
            <a:ext cx="3977639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38160" y="2990088"/>
            <a:ext cx="3977639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4048" y="303580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Billing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33088" y="3035808"/>
            <a:ext cx="38861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8080"/>
                </a:solidFill>
                <a:latin typeface="Calibri"/>
              </a:rPr>
              <a:t>Manual invoice printing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2168" y="3035808"/>
            <a:ext cx="38861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EFFB0"/>
                </a:solidFill>
                <a:latin typeface="Calibri"/>
              </a:rPr>
              <a:t>Auto-invoices + payment gateway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429000"/>
            <a:ext cx="3657600" cy="420624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069080" y="3429000"/>
            <a:ext cx="3977639" cy="420624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38160" y="3429000"/>
            <a:ext cx="3977639" cy="420624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4048" y="347472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Support Tickets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33088" y="3474720"/>
            <a:ext cx="38861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8080"/>
                </a:solidFill>
                <a:latin typeface="Calibri"/>
              </a:rPr>
              <a:t>Verbal, no tracking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02168" y="3474720"/>
            <a:ext cx="38861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EFFB0"/>
                </a:solidFill>
                <a:latin typeface="Calibri"/>
              </a:rPr>
              <a:t>Typed tickets with auto-routing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867912"/>
            <a:ext cx="3657600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069080" y="3867912"/>
            <a:ext cx="3977639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138160" y="3867912"/>
            <a:ext cx="3977639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84048" y="3913632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Network Monitoring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33088" y="3913632"/>
            <a:ext cx="38861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8080"/>
                </a:solidFill>
                <a:latin typeface="Calibri"/>
              </a:rPr>
              <a:t>Engineers go on-site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02168" y="3913632"/>
            <a:ext cx="38861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EFFB0"/>
                </a:solidFill>
                <a:latin typeface="Calibri"/>
              </a:rPr>
              <a:t>Live Leaflet.js NOC map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306824"/>
            <a:ext cx="3657600" cy="420624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069080" y="4306824"/>
            <a:ext cx="3977639" cy="420624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138160" y="4306824"/>
            <a:ext cx="3977639" cy="420624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84048" y="4352544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Staff Workload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33088" y="4352544"/>
            <a:ext cx="38861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8080"/>
                </a:solidFill>
                <a:latin typeface="Calibri"/>
              </a:rPr>
              <a:t>No visibility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02168" y="4352544"/>
            <a:ext cx="38861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EFFB0"/>
                </a:solidFill>
                <a:latin typeface="Calibri"/>
              </a:rPr>
              <a:t>Workload charts per staff member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745736"/>
            <a:ext cx="3657600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069080" y="4745736"/>
            <a:ext cx="3977639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138160" y="4745736"/>
            <a:ext cx="3977639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4048" y="4791456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Mass Communication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33088" y="4791456"/>
            <a:ext cx="38861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8080"/>
                </a:solidFill>
                <a:latin typeface="Calibri"/>
              </a:rPr>
              <a:t>Manual SMS blast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02168" y="4791456"/>
            <a:ext cx="38861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EFFB0"/>
                </a:solidFill>
                <a:latin typeface="Calibri"/>
              </a:rPr>
              <a:t>Targeted zone-aware broadcast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5184648"/>
            <a:ext cx="3657600" cy="420624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069080" y="5184648"/>
            <a:ext cx="3977639" cy="420624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138160" y="5184648"/>
            <a:ext cx="3977639" cy="420624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84048" y="523036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Hardware Tracking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33088" y="5230368"/>
            <a:ext cx="38861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8080"/>
                </a:solidFill>
                <a:latin typeface="Calibri"/>
              </a:rPr>
              <a:t>No records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02168" y="5230368"/>
            <a:ext cx="38861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EFFB0"/>
                </a:solidFill>
                <a:latin typeface="Calibri"/>
              </a:rPr>
              <a:t>MAC binding + inventory system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5623560"/>
            <a:ext cx="3657600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069080" y="5623560"/>
            <a:ext cx="3977639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138160" y="5623560"/>
            <a:ext cx="3977639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84048" y="566928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Customer Self-Service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33088" y="5669280"/>
            <a:ext cx="38861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8080"/>
                </a:solidFill>
                <a:latin typeface="Calibri"/>
              </a:rPr>
              <a:t>None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02168" y="5669280"/>
            <a:ext cx="38861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EFFB0"/>
                </a:solidFill>
                <a:latin typeface="Calibri"/>
              </a:rPr>
              <a:t>Speed test, diagnostics, chatbot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NextGenISP  |  ISP Management Platform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1914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4592"/>
            <a:ext cx="8229600" cy="6583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82880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 Flow Diagram (DFD)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86868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6B6D4"/>
                </a:solidFill>
                <a:latin typeface="Calibri"/>
              </a:rPr>
              <a:t>Levels of System Data 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54864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325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Level 0 — Context Diagram (The Big Picture)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64208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The entire system is a single process: "NextGenISP Platform".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External Entities:  Visitor  ·  Customer  ·  Admin  ·  Field Staff  ·  Technical Staff  ·  Email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97480"/>
            <a:ext cx="54864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697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Level 1 — Main Processes (6 Core Functions)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17520"/>
            <a:ext cx="114574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[1.0]  User &amp; Auth Management   → JWT Token, Role-locked Dashboard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[2.0]  Plan &amp; Hardware Mgmt     → Public plan listing, Subscriptions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[3.0]  Installation Management  → Field task board, MAC binding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[4.0]  Billing &amp; Payments       → Invoice generation, Payment records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[5.0]  Support &amp; Ticketing      → Ticket creation, Staff routing, Resolution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[6.0]  NOC / Network Ops        → Maintenance alerts, Live map visualization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92040"/>
            <a:ext cx="54864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892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Level 2 — Installation Sub-Process (Drill-Down)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6636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06B6D4"/>
                </a:solidFill>
                <a:latin typeface="Calibri"/>
              </a:rPr>
              <a:t>  [3.1] Admin creates task  →  [3.2] Field Staff does physical install  →  [3.3] Tech Staff does logical config  →  [3.4] Customer ACTIVE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500BBD-887D-489A-B27D-3A27D0245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65" y="1371384"/>
            <a:ext cx="11700094" cy="33900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7CC295-8DF2-497C-B12C-2E6B74632FB8}"/>
              </a:ext>
            </a:extLst>
          </p:cNvPr>
          <p:cNvSpPr txBox="1"/>
          <p:nvPr/>
        </p:nvSpPr>
        <p:spPr>
          <a:xfrm>
            <a:off x="307428" y="701566"/>
            <a:ext cx="1280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Level 0 DFD</a:t>
            </a:r>
          </a:p>
        </p:txBody>
      </p:sp>
    </p:spTree>
    <p:extLst>
      <p:ext uri="{BB962C8B-B14F-4D97-AF65-F5344CB8AC3E}">
        <p14:creationId xmlns:p14="http://schemas.microsoft.com/office/powerpoint/2010/main" val="2073486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064926-C22E-4EED-A217-96CBB9163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16" y="0"/>
            <a:ext cx="11840066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9E03F5-7196-4B5F-9257-ACC1E6C752A2}"/>
              </a:ext>
            </a:extLst>
          </p:cNvPr>
          <p:cNvSpPr txBox="1"/>
          <p:nvPr/>
        </p:nvSpPr>
        <p:spPr>
          <a:xfrm>
            <a:off x="496614" y="622738"/>
            <a:ext cx="1280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Level 1 DFD</a:t>
            </a:r>
          </a:p>
        </p:txBody>
      </p:sp>
    </p:spTree>
    <p:extLst>
      <p:ext uri="{BB962C8B-B14F-4D97-AF65-F5344CB8AC3E}">
        <p14:creationId xmlns:p14="http://schemas.microsoft.com/office/powerpoint/2010/main" val="205460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NextGenISP  |  ISP Management Platform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1914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4592"/>
            <a:ext cx="8229600" cy="6583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82880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ER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86868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6B6D4"/>
                </a:solidFill>
                <a:latin typeface="Calibri"/>
              </a:rPr>
              <a:t>Entity-Relationship 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63040"/>
            <a:ext cx="1145743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06B6D4"/>
                </a:solidFill>
                <a:latin typeface="Calibri"/>
              </a:rPr>
              <a:t>Core Entities &amp; Relationships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endParaRPr sz="1500" b="1">
              <a:solidFill>
                <a:srgbClr val="06B6D4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Area  (Geographic anchor)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→ User (Customer) belongs to one Area  [Many-to-One FK]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→ Plan is available in multiple Areas  [Many-to-Many]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endParaRPr sz="130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User  (Most connected entity)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→ Holds a Subscription → Plan  [FK chain]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→ Subscription generates monthly Invoices  [One-to-Many]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→ Raises Tickets assigned to Staff  [Two FKs on User table]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→ Linked to InstallationTask as Customer, Field Staff, OR Tech Staff  [×3 FKs]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endParaRPr sz="130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InstallationTask  (Operations hub)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→ References: Customer, Field Staff, Tech Staff, Plan, Hardware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→ Stores router MAC address, own-device model, one-time charges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endParaRPr sz="130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Supporting entities: Ticket → ChatMessage  |  InventoryItem → AssetAssignment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E0DFF2-F63A-4741-AB13-CD0E470F5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3315"/>
            <a:ext cx="12188825" cy="62546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390E6C-B12F-4952-93B2-9680F037E00D}"/>
              </a:ext>
            </a:extLst>
          </p:cNvPr>
          <p:cNvSpPr txBox="1"/>
          <p:nvPr/>
        </p:nvSpPr>
        <p:spPr>
          <a:xfrm>
            <a:off x="490194" y="311085"/>
            <a:ext cx="1407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 DIAGRAM</a:t>
            </a:r>
          </a:p>
        </p:txBody>
      </p:sp>
    </p:spTree>
    <p:extLst>
      <p:ext uri="{BB962C8B-B14F-4D97-AF65-F5344CB8AC3E}">
        <p14:creationId xmlns:p14="http://schemas.microsoft.com/office/powerpoint/2010/main" val="3197793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NextGenISP  |  ISP Management Platform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1914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4592"/>
            <a:ext cx="8229600" cy="6583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82880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Database Schema — Part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86868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6B6D4"/>
                </a:solidFill>
                <a:latin typeface="Calibri"/>
              </a:rPr>
              <a:t>13 Tables across 8 Groups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89888"/>
            <a:ext cx="5394960" cy="274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  area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64208"/>
            <a:ext cx="5394960" cy="1078992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166420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id PK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186537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name, code (UNIQUE)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06654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coordinates (GeoJSON)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226771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is_under_maintenance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246888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maintenance_message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880360"/>
            <a:ext cx="5394960" cy="274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288036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  user  (extends AbstractUser)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154680"/>
            <a:ext cx="5394960" cy="128016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315468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id PK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33558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username, email, password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55701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role  ENUM: ADMIN|TECH|FIELD|CUSTOMER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375818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status  ENUM: LEAD→ACTIVE→SUSPENDED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395935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area_id FK, phone_number, address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16052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latitude, longitude, id_proof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572000"/>
            <a:ext cx="5394960" cy="274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45720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  plan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846320"/>
            <a:ext cx="5394960" cy="128016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484632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id PK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504748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name, speed_mbps, price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524865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plan_type ENUM: FIBER|WIRELESS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544982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data_limit_gb (FUP cap)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565099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areas  M2M→ area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585216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recommended_hardware  M2M→ hardware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389888"/>
            <a:ext cx="5394960" cy="274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72200" y="138988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  subscription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1664208"/>
            <a:ext cx="5394960" cy="877824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72200" y="166420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user_id FK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186537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plan_id FK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206654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status ENUM: ACTIVE|EXPIRED|SUSPENDED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226771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start_date, end_date, billing_cycle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2679192"/>
            <a:ext cx="5394960" cy="274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72200" y="26791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  invoice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2953512"/>
            <a:ext cx="5394960" cy="676656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72200" y="295351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subscription_id FK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315468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amount, due_date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33558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status ENUM: PENDING|PAID|OVERDUE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3767328"/>
            <a:ext cx="5394960" cy="274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72200" y="376732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  payment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041648"/>
            <a:ext cx="5394960" cy="676656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72200" y="40416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invoice_id FK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424281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transaction_id (UNIQUE)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2200" y="444398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amount, method (CASH|ONLINE)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4855464"/>
            <a:ext cx="5394960" cy="274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172200" y="485546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  hardware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72200" y="5129784"/>
            <a:ext cx="5394960" cy="877824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72200" y="512978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id PK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2200" y="533095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name, price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72200" y="553212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specifications (JSON)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200" y="573328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image, is_active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NextGenISP  |  ISP Management Platform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1914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4592"/>
            <a:ext cx="8229600" cy="6583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82880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Database Schema — Part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86868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6B6D4"/>
                </a:solidFill>
                <a:latin typeface="Calibri"/>
              </a:rPr>
              <a:t>Remaining Tables &amp; Relationships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89888"/>
            <a:ext cx="5394960" cy="274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  ticket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64208"/>
            <a:ext cx="5394960" cy="1078992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166420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customer_id FK →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186537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assigned_to_id FK →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06654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ticket_type ENUM: LOGICAL|PHYSICAL|INSTALLATION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226771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status ENUM: OPEN→IN_PROGRESS→RESOLVED→CLOSED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246888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subject, description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880360"/>
            <a:ext cx="5394960" cy="274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288036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  chatmessage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154680"/>
            <a:ext cx="5394960" cy="676656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315468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ticket_id FK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33558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sender_id FK → 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55701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message, created_at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968496"/>
            <a:ext cx="5394960" cy="274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396849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  enquiry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242816"/>
            <a:ext cx="5394960" cy="676656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424281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name, phone, email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44398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status ENUM: OPEN→CONTACTED→CONVERTED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464515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assigned_to_id FK → user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389888"/>
            <a:ext cx="5394960" cy="274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72200" y="138988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  installationtask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1664208"/>
            <a:ext cx="5394960" cy="1481328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72200" y="166420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customer_id FK → user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186537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assigned_staff_id FK → user  (Field)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206654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assigned_technical_staff_id FK (Tech)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226771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plan_id FK, hardware_id FK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246888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own_router_mac, own_router_model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26700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status ENUM: PENDING→PHYSICAL_COMPLETED→CLOSED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287121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one_time_charge, router_mac, notes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3282696"/>
            <a:ext cx="5394960" cy="274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72200" y="328269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  inventoryitem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3557016"/>
            <a:ext cx="5394960" cy="676656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72200" y="355701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name, sku (UNIQUE)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375818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quantity, unit_price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395935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category: ROUTER|CABLE|CONNECTOR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4370832"/>
            <a:ext cx="5394960" cy="274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72200" y="437083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  assetassignment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4645152"/>
            <a:ext cx="5394960" cy="676656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72200" y="464515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item_id FK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72200" y="484632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user_id FK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504748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  serial_number, is_returned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669280"/>
            <a:ext cx="11567160" cy="54864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11480" y="56875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6B6D4"/>
                </a:solidFill>
                <a:latin typeface="Calibri"/>
              </a:rPr>
              <a:t>area ← user → subscription → invoice → payment  |  user → ticket → chatmessage  |  user → installationtask  |  inventoryitem → assetassignment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NextGenISP  |  ISP Management Platform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1914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4592"/>
            <a:ext cx="8229600" cy="6583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82880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Module Descriptions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86868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6B6D4"/>
                </a:solidFill>
                <a:latin typeface="Calibri"/>
              </a:rPr>
              <a:t>5 Core Modules of the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71600"/>
            <a:ext cx="502920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371600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1371600"/>
            <a:ext cx="11018520" cy="82296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14081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Public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17190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Visitors browse plans, hardware, and register. Account created as LEAD for admin verification.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1965960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  <a:latin typeface="Calibri"/>
              </a:rPr>
              <a:t>Pages: Home · Plan List · Router Detail · Register · Login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286000"/>
            <a:ext cx="502920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2286000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286000"/>
            <a:ext cx="11018520" cy="82296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23225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Admin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2633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Verify users, manage plans/zones/hardware, view workload charts, send targeted broadcasts.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2880360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  <a:latin typeface="Calibri"/>
              </a:rPr>
              <a:t>Pages: AdminDash · ManageUsers · ManagePlans · ManageAreas · Broadcast · WorkloadMonitor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200400"/>
            <a:ext cx="502920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3200400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3200400"/>
            <a:ext cx="11018520" cy="82296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" y="32369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War Room (NOC)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35478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Live Leaflet.js map with GeoJSON zone polygons. Color-coded customer pins. Toggle maintenance mode per zone.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3794760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  <a:latin typeface="Calibri"/>
              </a:rPr>
              <a:t>Pages: NetworkMap · Outage Tracker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114800"/>
            <a:ext cx="502920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" y="4114800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4114800"/>
            <a:ext cx="11018520" cy="82296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7552" y="41513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Staff Dashboards (Two-Phase)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44622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Field Staff: physical cabling, MAC capture. Technical Staff: logical config (PPPoE/DHCP/VLAN), KB articles.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4709160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  <a:latin typeface="Calibri"/>
              </a:rPr>
              <a:t>Pages: FieldDash · FieldRepairs · TechDash · TechRepairs · KnowledgeBase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029200"/>
            <a:ext cx="502920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5029200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5029200"/>
            <a:ext cx="11018520" cy="82296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7552" y="50657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Customer Self-Service Portal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" y="53766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Plan status, speed gauge, diagnostic terminal, bill history, UPI/Razorpay payment, tickets, AI chatbot.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" y="5623560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  <a:latin typeface="Calibri"/>
              </a:rPr>
              <a:t>Pages: CustDash · BillHistory · Support · Chatbot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403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94A3B8"/>
                </a:solidFill>
                <a:latin typeface="Calibri"/>
              </a:rPr>
              <a:t>  |  ISP Management Platform  |  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4592"/>
            <a:ext cx="8229600" cy="6583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82880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Advantages of the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89888"/>
            <a:ext cx="5669280" cy="82296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389888"/>
            <a:ext cx="73152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14356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✓  End-to-End Digitization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7739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No paperwork — entire ISP workflow is digital from lead to active subscriber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04288"/>
            <a:ext cx="5669280" cy="82296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2304288"/>
            <a:ext cx="73152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" y="23500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✓  Real-Time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26883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Admin sees live NOC map, workload charts, outages, and revenue at a glance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18688"/>
            <a:ext cx="5669280" cy="82296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3218688"/>
            <a:ext cx="73152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" y="32644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✓  Dual-Staff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36027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Physical and logical roles are separated, eliminating assignment confusion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133088"/>
            <a:ext cx="5669280" cy="82296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4133088"/>
            <a:ext cx="73152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" y="41788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✓  Self-Service Empowerment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45171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Customers resolve issues themselves — speed test, diagnostics, chatbot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047488"/>
            <a:ext cx="5669280" cy="82296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5047488"/>
            <a:ext cx="73152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" y="50932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✓  Targeted Communications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" y="54315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Zone-level broadcast ensures only affected users receive alerts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1389888"/>
            <a:ext cx="5669280" cy="82296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72200" y="1389888"/>
            <a:ext cx="73152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36792" y="14356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✓  Hardware Accountability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17739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MAC binding and inventory tracking prevent unauthorized device usage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2304288"/>
            <a:ext cx="5669280" cy="82296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72200" y="2304288"/>
            <a:ext cx="73152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36792" y="23500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✓  Scalable Role 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6883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New roles can be added via DB config — zero code changes needed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3218688"/>
            <a:ext cx="5669280" cy="82296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72200" y="3218688"/>
            <a:ext cx="73152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36792" y="32644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✓  Geographic Intelligence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792" y="36027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GeoJSON polygon zones tie plans, customers, and alerts to geography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4133088"/>
            <a:ext cx="5669280" cy="82296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172200" y="4133088"/>
            <a:ext cx="73152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36792" y="41788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✓  Automated Billing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6792" y="45171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Invoice generation, payment tracking, defaulter detection — fully automated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5047488"/>
            <a:ext cx="5669280" cy="82296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72200" y="5047488"/>
            <a:ext cx="73152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36792" y="50932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✓  Secure &amp; Authenticated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54315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JWT-based auth + role-locked API endpoints at every backend 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403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94A3B8"/>
                </a:solidFill>
                <a:latin typeface="Calibri"/>
              </a:rPr>
              <a:t>|  ISP Management Platform  |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4592"/>
            <a:ext cx="8229600" cy="6583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82880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86868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6B6D4"/>
                </a:solidFill>
                <a:latin typeface="Calibri"/>
              </a:rPr>
              <a:t>What Comes Next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54864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325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Standard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64208"/>
            <a:ext cx="114574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✦  Real Razorpay Integration — Webhook-based payment confirmation for production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✦  Progressive Web App (PWA) — Field Staff access tasks offline on mobile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✦  WhatsApp / SMS Notifications — Instant payment reminders via Twilio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✦  Usage-Based FUP Enforcement — Auto-suspend on data cap breach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90672"/>
            <a:ext cx="54864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090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AI / Machine Learning Enhancements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29000"/>
            <a:ext cx="114574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dirty="0">
                <a:solidFill>
                  <a:srgbClr val="FFFFFF"/>
                </a:solidFill>
                <a:latin typeface="Calibri"/>
              </a:rPr>
              <a:t>  🤖  Predictive Maintenance (ML) — Forecast fiber degradation by zone before customers notice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dirty="0">
                <a:solidFill>
                  <a:srgbClr val="FFFFFF"/>
                </a:solidFill>
                <a:latin typeface="Calibri"/>
              </a:rPr>
              <a:t>  🤖  Auto Ticket Triage (LLM) — Classify complaints as LOGICAL/PHYSICAL and assign right staff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dirty="0">
                <a:solidFill>
                  <a:srgbClr val="FFFFFF"/>
                </a:solidFill>
                <a:latin typeface="Calibri"/>
              </a:rPr>
              <a:t>  🤖  Dynamic Bandwidth QoS (AI) — Prioritize premium customers during peak hours automatically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dirty="0">
                <a:solidFill>
                  <a:srgbClr val="FFFFFF"/>
                </a:solidFill>
                <a:latin typeface="Calibri"/>
              </a:rPr>
              <a:t>  🤖  Churn Prediction — Identify customers likely to cancel and trigger retention campaigns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956048"/>
            <a:ext cx="54864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956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Infrastructure Scaling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66944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94A3B8"/>
                </a:solidFill>
                <a:latin typeface="Calibri"/>
              </a:rPr>
              <a:t>  ⚙  PostgreSQL Migration  ·  Docker Containerization  ·  WebSocket Real-Time Ticket Chat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1645920"/>
            <a:ext cx="9418320" cy="3200400"/>
          </a:xfrm>
          <a:prstGeom prst="rect">
            <a:avLst/>
          </a:prstGeom>
          <a:solidFill>
            <a:srgbClr val="11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645920"/>
            <a:ext cx="164592" cy="3200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37360" y="182880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510528"/>
            <a:ext cx="116403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94A3B8"/>
                </a:solidFill>
                <a:latin typeface="Calibri"/>
              </a:rPr>
              <a:t>  |  ISP Management Platform  |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1937</Words>
  <Application>Microsoft Office PowerPoint</Application>
  <PresentationFormat>Custom</PresentationFormat>
  <Paragraphs>277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sahad</cp:lastModifiedBy>
  <cp:revision>7</cp:revision>
  <dcterms:created xsi:type="dcterms:W3CDTF">2013-01-27T09:14:16Z</dcterms:created>
  <dcterms:modified xsi:type="dcterms:W3CDTF">2026-03-12T05:35:22Z</dcterms:modified>
  <cp:category/>
</cp:coreProperties>
</file>